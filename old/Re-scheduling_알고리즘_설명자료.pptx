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960f4e5924b29" /><Relationship Type="http://schemas.openxmlformats.org/officeDocument/2006/relationships/extended-properties" Target="/docProps/app.xml" Id="Reca6eeb31ef54569" /><Relationship Type="http://schemas.openxmlformats.org/officeDocument/2006/relationships/officeDocument" Target="/ppt/presentation.xml" Id="R29a4be8aa182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fa165517e4060"/>
  </p:sldMasterIdLst>
  <p:notesMasterIdLst>
    <p:notesMasterId xmlns:r="http://schemas.openxmlformats.org/officeDocument/2006/relationships" r:id="R2fe175f021c24f1a"/>
  </p:notesMasterIdLst>
  <p:sldIdLst>
    <p:sldId xmlns:r="http://schemas.openxmlformats.org/officeDocument/2006/relationships" id="256" r:id="Rc37c146b35be42dd"/>
    <p:sldId xmlns:r="http://schemas.openxmlformats.org/officeDocument/2006/relationships" id="257" r:id="Rfa15317c880b4a28"/>
    <p:sldId xmlns:r="http://schemas.openxmlformats.org/officeDocument/2006/relationships" id="258" r:id="R322562117ea74cd7"/>
    <p:sldId xmlns:r="http://schemas.openxmlformats.org/officeDocument/2006/relationships" id="259" r:id="R619d276b24ca423e"/>
    <p:sldId xmlns:r="http://schemas.openxmlformats.org/officeDocument/2006/relationships" id="260" r:id="R2d8cc28058724ed7"/>
    <p:sldId xmlns:r="http://schemas.openxmlformats.org/officeDocument/2006/relationships" id="261" r:id="R1942e2814d484c3c"/>
    <p:sldId xmlns:r="http://schemas.openxmlformats.org/officeDocument/2006/relationships" id="262" r:id="Ra1feb399f5364b2f"/>
    <p:sldId xmlns:r="http://schemas.openxmlformats.org/officeDocument/2006/relationships" id="263" r:id="R6f65a251f00b4e4f"/>
    <p:sldId xmlns:r="http://schemas.openxmlformats.org/officeDocument/2006/relationships" id="264" r:id="Rf42c1c1d7308463d"/>
    <p:sldId xmlns:r="http://schemas.openxmlformats.org/officeDocument/2006/relationships" id="265" r:id="R478f16a2efc84d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66977016e4902" /><Relationship Type="http://schemas.openxmlformats.org/officeDocument/2006/relationships/slideMaster" Target="/ppt/slideMasters/slideMaster1.xml" Id="R769fa165517e4060" /><Relationship Type="http://schemas.openxmlformats.org/officeDocument/2006/relationships/notesMaster" Target="/ppt/notesMasters/notesMaster1.xml" Id="R2fe175f021c24f1a" /><Relationship Type="http://schemas.openxmlformats.org/officeDocument/2006/relationships/presProps" Target="/ppt/presProps.xml" Id="Red4f7b13b2684bb8" /><Relationship Type="http://schemas.openxmlformats.org/officeDocument/2006/relationships/tableStyles" Target="/ppt/tableStyles.xml" Id="R634149db9a544b62" /><Relationship Type="http://schemas.openxmlformats.org/officeDocument/2006/relationships/slide" Target="/ppt/slides/slide1.xml" Id="Rc37c146b35be42dd" /><Relationship Type="http://schemas.openxmlformats.org/officeDocument/2006/relationships/slide" Target="/ppt/slides/slide2.xml" Id="Rfa15317c880b4a28" /><Relationship Type="http://schemas.openxmlformats.org/officeDocument/2006/relationships/slide" Target="/ppt/slides/slide3.xml" Id="R322562117ea74cd7" /><Relationship Type="http://schemas.openxmlformats.org/officeDocument/2006/relationships/slide" Target="/ppt/slides/slide4.xml" Id="R619d276b24ca423e" /><Relationship Type="http://schemas.openxmlformats.org/officeDocument/2006/relationships/slide" Target="/ppt/slides/slide5.xml" Id="R2d8cc28058724ed7" /><Relationship Type="http://schemas.openxmlformats.org/officeDocument/2006/relationships/slide" Target="/ppt/slides/slide6.xml" Id="R1942e2814d484c3c" /><Relationship Type="http://schemas.openxmlformats.org/officeDocument/2006/relationships/slide" Target="/ppt/slides/slide7.xml" Id="Ra1feb399f5364b2f" /><Relationship Type="http://schemas.openxmlformats.org/officeDocument/2006/relationships/slide" Target="/ppt/slides/slide8.xml" Id="R6f65a251f00b4e4f" /><Relationship Type="http://schemas.openxmlformats.org/officeDocument/2006/relationships/slide" Target="/ppt/slides/slide9.xml" Id="Rf42c1c1d7308463d" /><Relationship Type="http://schemas.openxmlformats.org/officeDocument/2006/relationships/slide" Target="/ppt/slides/slide10.xml" Id="R478f16a2efc84d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09351247445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6bceaca0f4232" /><Relationship Type="http://schemas.openxmlformats.org/officeDocument/2006/relationships/notesMaster" Target="/ppt/notesMasters/notesMaster1.xml" Id="Ra6cc86d1db11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7151170714cd3" /><Relationship Type="http://schemas.openxmlformats.org/officeDocument/2006/relationships/notesMaster" Target="/ppt/notesMasters/notesMaster1.xml" Id="R61e1eda301d7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d8d9d33904915" /><Relationship Type="http://schemas.openxmlformats.org/officeDocument/2006/relationships/notesMaster" Target="/ppt/notesMasters/notesMaster1.xml" Id="R782ce105a2f7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a40f9dfc54f7f" /><Relationship Type="http://schemas.openxmlformats.org/officeDocument/2006/relationships/notesMaster" Target="/ppt/notesMasters/notesMaster1.xml" Id="Re14cad684b4043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b5bccc155402b" /><Relationship Type="http://schemas.openxmlformats.org/officeDocument/2006/relationships/notesMaster" Target="/ppt/notesMasters/notesMaster1.xml" Id="R4c7ee34e5c814e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41891bbc2e40d3" /><Relationship Type="http://schemas.openxmlformats.org/officeDocument/2006/relationships/notesMaster" Target="/ppt/notesMasters/notesMaster1.xml" Id="R4e956d7f390e44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9e95a5c77146c4" /><Relationship Type="http://schemas.openxmlformats.org/officeDocument/2006/relationships/notesMaster" Target="/ppt/notesMasters/notesMaster1.xml" Id="R1377447ad49c41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363a7d2524f15" /><Relationship Type="http://schemas.openxmlformats.org/officeDocument/2006/relationships/notesMaster" Target="/ppt/notesMasters/notesMaster1.xml" Id="Rece5198751b047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86d8e08e6a4e5f" /><Relationship Type="http://schemas.openxmlformats.org/officeDocument/2006/relationships/notesMaster" Target="/ppt/notesMasters/notesMaster1.xml" Id="R2bc2fa63de6648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771f6313944e75" /><Relationship Type="http://schemas.openxmlformats.org/officeDocument/2006/relationships/notesMaster" Target="/ppt/notesMasters/notesMaster1.xml" Id="Rad711240f31e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Karam &amp; Reinau (2022), A Real-Time Decision Support Approach for Managing Disruptions in Line-Haul Freight Transport Networks.</a:t>
            </a:r>
          </a:p>
          <a:p xmlns:a="http://schemas.openxmlformats.org/drawingml/2006/main">
            <a:r>
              <a:t>- MOVE AI VCM team algorithm specification and delivery-only operating assumptions.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0a887a7e3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7c97bb346d4a13" /><Relationship Type="http://schemas.openxmlformats.org/officeDocument/2006/relationships/slideLayout" Target="/ppt/slideLayouts/slideLayout1.xml" Id="R9a8946e62c4b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8946e62c4b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8e726249417b" /><Relationship Type="http://schemas.openxmlformats.org/officeDocument/2006/relationships/notesSlide" Target="/ppt/notesSlides/notesSlide1.xml" Id="R891ccda001164a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2594a82f34538" /><Relationship Type="http://schemas.openxmlformats.org/officeDocument/2006/relationships/notesSlide" Target="/ppt/notesSlides/notesSlide2.xml" Id="Ra6b152fea3fa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d81caf4a4f6f" /><Relationship Type="http://schemas.openxmlformats.org/officeDocument/2006/relationships/notesSlide" Target="/ppt/notesSlides/notesSlide3.xml" Id="Rf8fac6b303dd4c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697adab34a70" /><Relationship Type="http://schemas.openxmlformats.org/officeDocument/2006/relationships/notesSlide" Target="/ppt/notesSlides/notesSlide4.xml" Id="R80d9f95bf6a14e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8d5d896a497b" /><Relationship Type="http://schemas.openxmlformats.org/officeDocument/2006/relationships/notesSlide" Target="/ppt/notesSlides/notesSlide5.xml" Id="R58ec8484e7f2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b148295584a07" /><Relationship Type="http://schemas.openxmlformats.org/officeDocument/2006/relationships/notesSlide" Target="/ppt/notesSlides/notesSlide6.xml" Id="Ra25bae6a8e9d4c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7a821f124e68" /><Relationship Type="http://schemas.openxmlformats.org/officeDocument/2006/relationships/notesSlide" Target="/ppt/notesSlides/notesSlide7.xml" Id="R5ff5097b5b6140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dffb0807a48c5" /><Relationship Type="http://schemas.openxmlformats.org/officeDocument/2006/relationships/notesSlide" Target="/ppt/notesSlides/notesSlide8.xml" Id="Rcd0ea5305ff347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d60cc000e4dbd" /><Relationship Type="http://schemas.openxmlformats.org/officeDocument/2006/relationships/notesSlide" Target="/ppt/notesSlides/notesSlide9.xml" Id="R1919425853a146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0713b68e240cc" /><Relationship Type="http://schemas.openxmlformats.org/officeDocument/2006/relationships/notesSlide" Target="/ppt/notesSlides/notesSlide10.xml" Id="R6ef0dfdfc852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4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5D686-54CB-4186-AC0D-8B0DCCF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1723A"/>
                </a:solidFill>
              </a:defRPr>
            </a:pPr>
            <a:r>
              <a:rPr sz="2100" b="1">
                <a:solidFill>
                  <a:srgbClr val="91723A"/>
                </a:solidFill>
              </a:rPr>
              <a:t>실시간 도로 변화에 대응하는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F665-4417-46EF-AEA4-42A5095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Re-scheduling 알고리즘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09E74-98E8-404F-BA83-B24037B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8EE"/>
                </a:solidFill>
              </a:defRPr>
            </a:pPr>
            <a:r>
              <a:rPr sz="1650" b="0">
                <a:solidFill>
                  <a:srgbClr val="D8D8EE"/>
                </a:solidFill>
              </a:rPr>
              <a:t>고객 순서는 유지할 것인가, 바꿀 것인가, 차량을 추가할 것인가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1D5E1-328B-4B11-8096-52F2D80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7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049F3-E063-40A7-B0ED-AEDF618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Detour  ·  Re-route  ·  New truck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29618-2979-48B0-BF90-459453AC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9D5"/>
                </a:solidFill>
              </a:defRPr>
            </a:pPr>
            <a:r>
              <a:rPr sz="1200" b="0">
                <a:solidFill>
                  <a:srgbClr val="B9B9D5"/>
                </a:solidFill>
              </a:rPr>
              <a:t>Delivery-only 운영 모델 | TDVRP 결과 + Updated road graph</a:t>
            </a:r>
          </a:p>
        </p:txBody>
      </p:sp>
    </p:spTree>
    <p:extLst>
      <p:ext uri="{BB962C8B-B14F-4D97-AF65-F5344CB8AC3E}">
        <p14:creationId xmlns:p14="http://schemas.microsoft.com/office/powerpoint/2010/main" val="8567151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6E438-691E-4946-A1D1-3E0AE0C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559DF-E0E9-427E-BE6B-BCBF1EA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도로가 바뀌면 먼저 ‘영향이 있는지’부터 판단한다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A797E-374B-4C16-89D0-52A3AEA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336D2-B564-48ED-A6F0-9D7AE631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13DA-2C84-4BB4-ADBC-41B1E17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069F"/>
                </a:solidFill>
              </a:defRPr>
            </a:pPr>
            <a:r>
              <a:rPr sz="1350" b="1">
                <a:solidFill>
                  <a:srgbClr val="10069F"/>
                </a:solidFill>
              </a:rPr>
              <a:t>TDVRP 최종 순서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5FE2C-12AE-41F0-963D-51B0FC7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56B3E-8595-416E-AFE1-9B2A9BE6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차량 현재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B2E97-F90A-49EE-8EF5-4815C26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15366-4C38-4989-8AEA-9038DA6D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723A"/>
                </a:solidFill>
              </a:defRPr>
            </a:pPr>
            <a:r>
              <a:rPr sz="1350" b="1">
                <a:solidFill>
                  <a:srgbClr val="91723A"/>
                </a:solidFill>
              </a:rPr>
              <a:t>Updated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1BB6C-3482-4895-B9FF-F36D3A0C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3523E-0FAD-4DF2-8AFE-73277B83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기존 계획 재평가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38735-4338-482A-812F-D14B44AF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1EE1C-F8B3-42BF-96AE-0CB6353D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허용 지연 초과?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경로 단절?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16998-5FC8-40FF-A2A0-D85B9E8E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44727-5A27-44CC-BF0A-A686817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669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6F6F"/>
                </a:solidFill>
              </a:defRPr>
            </a:pPr>
            <a:r>
              <a:rPr sz="1350" b="1">
                <a:solidFill>
                  <a:srgbClr val="6F6F6F"/>
                </a:solidFill>
              </a:rPr>
              <a:t>기존 계획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BF28B-D187-422D-B5FE-C7CE3F0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91723A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503D5-443D-4166-9252-3B8FEC5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624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3개 대안 생성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095500"/>
            <a:ext cx="95250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3333750"/>
            <a:ext cx="952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476500" y="3381375"/>
            <a:ext cx="95250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292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382000" y="2286000"/>
            <a:ext cx="10477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F6F6F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82000" y="3381375"/>
            <a:ext cx="10477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91723A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8B7F7-75F2-4C2F-9EC9-FD1B94A3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C3545-003F-4A39-9491-AC814005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1723A"/>
                </a:solidFill>
              </a:defRPr>
            </a:pPr>
            <a:r>
              <a:rPr sz="1050" b="1">
                <a:solidFill>
                  <a:srgbClr val="91723A"/>
                </a:solidFill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1ABD6-D957-4553-85FE-3CF07003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069F"/>
                </a:solidFill>
              </a:defRPr>
            </a:pPr>
            <a:r>
              <a:rPr sz="1500" b="1">
                <a:solidFill>
                  <a:srgbClr val="10069F"/>
                </a:solidFill>
              </a:rPr>
              <a:t>완료된 고객과 현재 주행 구간은 고정하고, 남은 계획만 다시 계산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9CC76-7152-477B-B1F6-91867D8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02</a:t>
            </a:r>
          </a:p>
        </p:txBody>
      </p:sp>
    </p:spTree>
    <p:extLst>
      <p:ext uri="{BB962C8B-B14F-4D97-AF65-F5344CB8AC3E}">
        <p14:creationId xmlns:p14="http://schemas.microsoft.com/office/powerpoint/2010/main" val="14853885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BD810-1312-4FB6-B1BA-AC7AE7F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608C4-6F09-47D9-AE92-08F554DA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No-action은 실행안이자 모든 개선 효과의 기준선이다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B544A-3709-4A8F-9D2A-5BA89F0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3CD83-77BC-4692-88D2-C521C32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572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896D7-4996-40DC-914A-CCEAF095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069F"/>
                </a:solidFill>
              </a:defRPr>
            </a:pPr>
            <a:r>
              <a:rPr sz="2025" b="1">
                <a:solidFill>
                  <a:srgbClr val="10069F"/>
                </a:solidFill>
              </a:rPr>
              <a:t>기존 계획을 그대로 수행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08D84-8B8B-4341-97F1-C65CC38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069F"/>
                </a:solidFill>
              </a:defRPr>
            </a:pPr>
            <a:r>
              <a:rPr sz="1650" b="1">
                <a:solidFill>
                  <a:srgbClr val="10069F"/>
                </a:solidFill>
              </a:rPr>
              <a:t>통행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F4D23-E0F4-46E8-8C6D-7BC632A6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F"/>
                </a:solidFill>
              </a:defRPr>
            </a:pPr>
            <a:r>
              <a:rPr sz="1275" b="0">
                <a:solidFill>
                  <a:srgbClr val="6F6F6F"/>
                </a:solidFill>
              </a:rPr>
              <a:t>현재 속도로 기존 상세 경로를 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021F4-12ED-4C96-9F82-DFCA44D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069F"/>
                </a:solidFill>
              </a:defRPr>
            </a:pPr>
            <a:r>
              <a:rPr sz="1650" b="1">
                <a:solidFill>
                  <a:srgbClr val="10069F"/>
                </a:solidFill>
              </a:rPr>
              <a:t>완전 통제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A57FC-EF1A-40E4-A4C9-78EF124F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F"/>
                </a:solidFill>
              </a:defRPr>
            </a:pPr>
            <a:r>
              <a:rPr sz="1275" b="0">
                <a:solidFill>
                  <a:srgbClr val="6F6F6F"/>
                </a:solidFill>
              </a:rPr>
              <a:t>통제 해제까지 대기한 뒤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22DED-7034-42C4-88F8-5B3393E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CFB6E-A5BE-4B1F-B9C6-285C88E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초기 예상 도착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5FDAB-52E0-4D3D-9D82-1DC0276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69396-16F0-4EC1-8E8D-D5C9164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723A"/>
                </a:solidFill>
              </a:defRPr>
            </a:pPr>
            <a:r>
              <a:rPr sz="1350" b="1">
                <a:solidFill>
                  <a:srgbClr val="91723A"/>
                </a:solidFill>
              </a:rPr>
              <a:t>장애 후 예상 도착</a:t>
            </a:r>
          </a:p>
        </p:txBody>
      </p: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96250" y="2428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B29A2-C337-4779-8E8A-792B4589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다른 대안의 효과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68FE0-961E-4DDB-9095-21A626E2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F6F"/>
                </a:solidFill>
              </a:defRPr>
            </a:pPr>
            <a:r>
              <a:rPr sz="1575" b="0">
                <a:solidFill>
                  <a:srgbClr val="6F6F6F"/>
                </a:solidFill>
              </a:rPr>
              <a:t>지연 절감 = No-action 지연 − 대안 지연</a:t>
            </a:r>
          </a:p>
          <a:p xmlns:a="http://schemas.openxmlformats.org/drawingml/2006/main">
            <a:pPr algn="l">
              <a:defRPr sz="1575" b="0">
                <a:solidFill>
                  <a:srgbClr val="6F6F6F"/>
                </a:solidFill>
              </a:defRPr>
            </a:pPr>
            <a:r>
              <a:rPr sz="1575" b="0">
                <a:solidFill>
                  <a:srgbClr val="6F6F6F"/>
                </a:solidFill>
              </a:rPr>
              <a:t>추가 비용 = 대안 비용 − No-action 비용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51913-F5E2-4A8F-A9EC-5FC00F0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03</a:t>
            </a:r>
          </a:p>
        </p:txBody>
      </p:sp>
    </p:spTree>
    <p:extLst>
      <p:ext uri="{BB962C8B-B14F-4D97-AF65-F5344CB8AC3E}">
        <p14:creationId xmlns:p14="http://schemas.microsoft.com/office/powerpoint/2010/main" val="345433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FF64E-1907-4738-BFE2-732CD7E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3C96A-4FCB-4C70-8A9B-CC09A314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Detour는 고객 순서를 유지하고 도로만 우회한다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E60AD-55FF-4FF3-9752-C5DC9F31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E22E5-91C2-4CC4-8130-F7F3735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6F6F"/>
                </a:solidFill>
              </a:defRPr>
            </a:pPr>
            <a:r>
              <a:rPr sz="1500" b="1">
                <a:solidFill>
                  <a:srgbClr val="6F6F6F"/>
                </a:solidFill>
              </a:rPr>
              <a:t>고객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09B8-479F-46F7-B0CE-ABBA6684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6668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9905B-6473-4A71-989C-420B9491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069F"/>
                </a:solidFill>
              </a:defRPr>
            </a:pPr>
            <a:r>
              <a:rPr sz="1350" b="1">
                <a:solidFill>
                  <a:srgbClr val="10069F"/>
                </a:solidFill>
              </a:rPr>
              <a:t>현재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B0641-F31B-4C34-B52C-BCD4C897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16668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0005-DA1B-4A07-9953-44CD075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621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고객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00DF-BAB4-4584-8816-2784540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16668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79D0D-822C-4912-BEE0-BE71F84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621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고객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E836F-0065-426C-AAB2-5AF915D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47875"/>
            <a:ext cx="16668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EC2F8-BF42-4A86-B71C-2E9DB02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621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종료 Depot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52675" y="23336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19675" y="23336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86675" y="23336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BD814-DF4E-4806-9124-0A11B19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D83E7-7659-4E64-BE71-5F25ECD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05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32"/>
                </a:solidFill>
              </a:defRPr>
            </a:pPr>
            <a:r>
              <a:rPr sz="1350" b="1">
                <a:solidFill>
                  <a:srgbClr val="C63C32"/>
                </a:solidFill>
              </a:rPr>
              <a:t>고객 순서는 변경하지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A7372-A5D3-4391-8071-ACEEC4A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762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464B7-D2EB-4D3F-A65B-0074582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폐쇄 arc 제거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98E3E-BF59-43C7-B4FD-EB30C871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1F138-DA99-4218-A3A0-CE648B9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Live 통행시간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F102D-4B8C-4DE3-958A-EF7BE5C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6A56C-F215-4409-8D66-10DAFD8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최단시간 경로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CDFE2-D8BF-48BA-B6E5-B8A6342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1905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91723A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D53B2-9830-42FE-8C65-059E207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상세 waypoint 반환</a:t>
            </a:r>
          </a:p>
        </p:txBody>
      </p: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905125" y="45005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715000" y="4500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67750" y="4500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58313-58A0-4BB6-87DC-1BA249E7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069F"/>
                </a:solidFill>
              </a:defRPr>
            </a:pPr>
            <a:r>
              <a:rPr sz="1500" b="1">
                <a:solidFill>
                  <a:srgbClr val="10069F"/>
                </a:solidFill>
              </a:rPr>
              <a:t>적합: 대체 도로가 있고 고객 약속·배정 변경을 최소화해야 할 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B9D10-E4DC-4378-B541-2A6B45CF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04</a:t>
            </a:r>
          </a:p>
        </p:txBody>
      </p:sp>
    </p:spTree>
    <p:extLst>
      <p:ext uri="{BB962C8B-B14F-4D97-AF65-F5344CB8AC3E}">
        <p14:creationId xmlns:p14="http://schemas.microsoft.com/office/powerpoint/2010/main" val="12062566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F60C9-C8DA-4FB8-8B82-41118C03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38807-D39C-4886-8458-6A9AD97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Detour는 각 고객 사이를 시간의존 최단경로로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465CB-D53B-4572-9CB7-E73EB8D4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AC865-2875-4F19-AD14-2BA41FD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BF061-6E2B-4A1C-8200-0933EB1E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다음 목적지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5683-7EC7-4514-8252-713FBC4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0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646EE-264D-489B-82DE-0B355618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069F"/>
                </a:solidFill>
              </a:defRPr>
            </a:pPr>
            <a:r>
              <a:rPr sz="1350" b="1">
                <a:solidFill>
                  <a:srgbClr val="10069F"/>
                </a:solidFill>
              </a:rPr>
              <a:t>폐쇄 제거 +</a:t>
            </a:r>
          </a:p>
          <a:p xmlns:a="http://schemas.openxmlformats.org/drawingml/2006/main">
            <a:pPr algn="ctr">
              <a:defRPr sz="1350" b="1">
                <a:solidFill>
                  <a:srgbClr val="10069F"/>
                </a:solidFill>
              </a:defRPr>
            </a:pPr>
            <a:r>
              <a:rPr sz="1350" b="1">
                <a:solidFill>
                  <a:srgbClr val="10069F"/>
                </a:solidFill>
              </a:rPr>
              <a:t>속도 가중치 갱신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9CA2-08CD-4E0E-BFE9-024ED3F5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2B61-E3A0-4891-88E5-D44AAC05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TD Dijkstra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7D1C0-F5AE-41AA-A828-D242FD8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865CD-AB54-4A03-B273-367D93C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경로 존재?</a:t>
            </a:r>
          </a:p>
        </p:txBody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71750" y="2114550"/>
            <a:ext cx="762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334000" y="2114550"/>
            <a:ext cx="85725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01000" y="2114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55CB3-EA6C-43F5-B3A8-F8E3D3A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72F18-F914-46AB-B134-4B18C59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723A"/>
                </a:solidFill>
              </a:defRPr>
            </a:pPr>
            <a:r>
              <a:rPr sz="1350" b="1">
                <a:solidFill>
                  <a:srgbClr val="91723A"/>
                </a:solidFill>
              </a:rPr>
              <a:t>상세 path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5C48C-5AD8-4C3E-BE9E-CF698A06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E5E3"/>
          </a:solidFill>
          <a:ln xmlns:a="http://schemas.openxmlformats.org/drawingml/2006/main" w="11430">
            <a:solidFill>
              <a:srgbClr val="C63C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D2843-8AB0-45DB-BFB6-3F61590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3C32"/>
                </a:solidFill>
              </a:defRPr>
            </a:pPr>
            <a:r>
              <a:rPr sz="1350" b="1">
                <a:solidFill>
                  <a:srgbClr val="C63C32"/>
                </a:solidFill>
              </a:rPr>
              <a:t>Detour 불가</a:t>
            </a:r>
          </a:p>
        </p:txBody>
      </p: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15500" y="241935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1723A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7096125" y="2419350"/>
            <a:ext cx="261937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C63C32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64561-C3AA-4DAA-9534-C5BD9E8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D6731-C6FF-4CC7-BD5A-33D4994E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도착·서비스 시각 반영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8FF5B-5F4C-49CC-BB2E-ED4437AB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33C56-460D-4368-A334-5EC3A5A0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다음 고객?</a:t>
            </a:r>
          </a:p>
        </p:txBody>
      </p:sp>
      <p:cxnSp>
        <p:nvCxnSpPr>
          <p:cNvPr id="54" name=""/>
          <p:cNvCxnSpPr>
            <a:stCxn xmlns:a="http://schemas.openxmlformats.org/drawingml/2006/main" id="15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524500" y="3543300"/>
            <a:ext cx="3333750" cy="1266825"/>
          </a:xfrm>
          <a:prstGeom xmlns:a="http://schemas.openxmlformats.org/drawingml/2006/main" prst="bentConnector3">
            <a:avLst>
              <a:gd name="adj1" fmla="val 6857"/>
            </a:avLst>
          </a:prstGeom>
          <a:ln xmlns:a="http://schemas.openxmlformats.org/drawingml/2006/main" w="23813">
            <a:solidFill>
              <a:srgbClr val="91723A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21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 flipV="1">
            <a:off x="2571750" y="4781550"/>
            <a:ext cx="762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3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666875" y="2419350"/>
            <a:ext cx="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48B4D-7C32-4E25-808C-BABCA3F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069F"/>
                </a:solidFill>
              </a:defRPr>
            </a:pPr>
            <a:r>
              <a:rPr sz="1500" b="1">
                <a:solidFill>
                  <a:srgbClr val="10069F"/>
                </a:solidFill>
              </a:rPr>
              <a:t>arc 진입시각 t의 속도로 통행시간 계산:  cᵢⱼ(t) = dᵢⱼ / vᵢⱼ(t)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B8EE7-5E8B-450D-9893-9A22D28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05</a:t>
            </a:r>
          </a:p>
        </p:txBody>
      </p:sp>
    </p:spTree>
    <p:extLst>
      <p:ext uri="{BB962C8B-B14F-4D97-AF65-F5344CB8AC3E}">
        <p14:creationId xmlns:p14="http://schemas.microsoft.com/office/powerpoint/2010/main" val="2180875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7D20F-05DF-469E-9E84-EB86DFA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2C6A3-9AE4-4945-AF1C-9FFE6E3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Re-route는 고객 순서와 기존 차량 간 배정을 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180A8-BCBE-4729-B88F-0CDDD887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C5023-4B16-44B5-9B7E-230BE1B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6F6F"/>
                </a:solidFill>
              </a:defRPr>
            </a:pPr>
            <a:r>
              <a:rPr sz="1650" b="1">
                <a:solidFill>
                  <a:srgbClr val="6F6F6F"/>
                </a:solidFill>
              </a:rPr>
              <a:t>세 가지 이웃해를 반복 탐색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1BBAC-E529-439B-9387-9247B9CD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7300A-9554-4D5A-B9CA-44781B6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069F"/>
                </a:solidFill>
              </a:defRPr>
            </a:pPr>
            <a:r>
              <a:rPr sz="1800" b="1">
                <a:solidFill>
                  <a:srgbClr val="10069F"/>
                </a:solidFill>
              </a:rPr>
              <a:t>SWAP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94F3F-8D3B-4808-874F-14311B7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A → B → C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A → C →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2D2D2-DC76-4748-845D-C82972D0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BAA8D-862F-470B-8A89-68140871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069F"/>
                </a:solidFill>
              </a:defRPr>
            </a:pPr>
            <a:r>
              <a:rPr sz="1800" b="1">
                <a:solidFill>
                  <a:srgbClr val="10069F"/>
                </a:solidFill>
              </a:rPr>
              <a:t>RELOCATE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03A9E-9B43-4D87-849B-9E568932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A → B → C → D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A → C → D →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9B5B3-3594-4A24-8D3B-006F67AF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3D9D0-B844-497E-9483-9F7FDCA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1723A"/>
                </a:solidFill>
              </a:defRPr>
            </a:pPr>
            <a:r>
              <a:rPr sz="1800" b="1">
                <a:solidFill>
                  <a:srgbClr val="91723A"/>
                </a:solidFill>
              </a:rPr>
              <a:t>REINSERT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EBBE9-8ED3-4F72-BDCA-0ACF362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479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T1: A → B → C</a:t>
            </a:r>
          </a:p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T2: D → B → 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CE76D-D35C-470B-8F93-B2041B4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762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25C98-3F69-4373-9108-747A344E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완료 구간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B6762-711C-40B2-9691-7E097BC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1762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B54C3-6CC4-4910-9A66-28708F85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이웃해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4629C-89C8-42A0-AA3E-867E752F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1762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F7932-517D-40C8-8EE7-9F16793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제약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3849E-D52C-4A0D-8319-5E78FBF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1723A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3AEE-9FF0-4A72-93EE-3A12588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95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더 좋은 해 채택</a:t>
            </a:r>
          </a:p>
        </p:txBody>
      </p: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714625" y="4686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238750" y="4686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762875" y="4686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20" idx="2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>
            <a:off x="4357688" y="4991100"/>
            <a:ext cx="5167313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1723A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90703-3D7A-495B-A63E-3C4BB99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6F6F"/>
                </a:solidFill>
              </a:defRPr>
            </a:pPr>
            <a:r>
              <a:rPr sz="1200" b="1">
                <a:solidFill>
                  <a:srgbClr val="6F6F6F"/>
                </a:solidFill>
              </a:rPr>
              <a:t>개선이 없을 때 종료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5F032-C076-4919-8F0F-11E45F8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06</a:t>
            </a:r>
          </a:p>
        </p:txBody>
      </p:sp>
    </p:spTree>
    <p:extLst>
      <p:ext uri="{BB962C8B-B14F-4D97-AF65-F5344CB8AC3E}">
        <p14:creationId xmlns:p14="http://schemas.microsoft.com/office/powerpoint/2010/main" val="7572369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3E76C-C997-43D8-AEBD-C088DD2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5263-B53D-4746-9332-CAB647A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New truck은 지연 위험 업무를 1…N대 차량에 이전한다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2F457-D846-4835-BFF5-1CC2A5F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A0A92-2940-43F9-8640-F1EC1D5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4627-845D-4DCE-88BE-DE10535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업무별 지연 위험도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72C9-C74F-4B33-BBA9-DB1BADB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C6EB4-FD72-4E70-B50E-35BB7F1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069F"/>
                </a:solidFill>
              </a:defRPr>
            </a:pPr>
            <a:r>
              <a:rPr sz="1350" b="1">
                <a:solidFill>
                  <a:srgbClr val="10069F"/>
                </a:solidFill>
              </a:rPr>
              <a:t>이전 가능 업무 정렬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12532-874D-45BE-948A-62DF1E7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7DF85-8A91-41CE-8543-2188E6C4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240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 = 1…N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87FE3-7D69-4795-BA17-AC3EC6AC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2F7C3-98F8-44E7-8608-9EB36EA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723A"/>
                </a:solidFill>
              </a:defRPr>
            </a:pPr>
            <a:r>
              <a:rPr sz="1350" b="1">
                <a:solidFill>
                  <a:srgbClr val="91723A"/>
                </a:solidFill>
              </a:rPr>
              <a:t>차량·위치별 삽입</a:t>
            </a:r>
          </a:p>
        </p:txBody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21431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24500" y="21431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43875" y="21431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7F626-E843-4D12-8D83-E0F85CD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D5A0C-A286-4E04-AF98-410A1E4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909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전체 경로 재계산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488CB-F52B-43FC-AC63-621238A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A3CB9-9811-41E2-8C22-2E1536D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용량·시간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3CD76-DDA0-4F2F-B885-20B4CC7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2047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91723A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02CF0-54CD-4F28-A8FF-03CD6D9A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909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k별 최적안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80A7A-B750-4FE9-ACF5-98C64316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109B2-4BF5-4A0B-9C88-4754444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투입 대수 결정</a:t>
            </a:r>
          </a:p>
        </p:txBody>
      </p:sp>
      <p:cxnSp>
        <p:nvCxnSpPr>
          <p:cNvPr id="52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977438" y="2476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5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8143875" y="3810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5524500" y="3810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2667000" y="3810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00C8B-2875-4647-8861-63F7588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86992-05D2-427A-8082-3E48919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530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069F"/>
                </a:solidFill>
              </a:defRPr>
            </a:pPr>
            <a:r>
              <a:rPr sz="1500" b="1">
                <a:solidFill>
                  <a:srgbClr val="10069F"/>
                </a:solidFill>
              </a:rPr>
              <a:t>차량은 출발 시 배송 물량을 보유하고 고객 방문 때 적재량이 감소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72E94-18E9-4EB3-BCE6-BBE4C52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07</a:t>
            </a:r>
          </a:p>
        </p:txBody>
      </p:sp>
    </p:spTree>
    <p:extLst>
      <p:ext uri="{BB962C8B-B14F-4D97-AF65-F5344CB8AC3E}">
        <p14:creationId xmlns:p14="http://schemas.microsoft.com/office/powerpoint/2010/main" val="20975779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7B98F-AFB6-4108-8ED0-2AB7ED39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74BA7-A016-46E0-8935-F399C17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모든 후보는 실행 가능한 계획인지 먼저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E1E0A-4153-4B2E-802C-EDC3EAF0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09FED-6E40-4C06-9D38-3A4B8D5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2920-D793-4F3A-8783-C7602D0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76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069F"/>
                </a:solidFill>
              </a:defRPr>
            </a:pPr>
            <a:r>
              <a:rPr sz="1650" b="1">
                <a:solidFill>
                  <a:srgbClr val="10069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1B0EB-8033-492F-BF79-A1D93CB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383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경로 연결성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33AF-D773-415F-8EF7-0AB637A5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모든 고객과 종료 depot까지 통행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917C0-016D-4B7A-9E58-A867034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057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A561-61F0-49FE-9195-4001EB4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1723A"/>
                </a:solidFill>
              </a:defRPr>
            </a:pPr>
            <a:r>
              <a:rPr sz="1650" b="1">
                <a:solidFill>
                  <a:srgbClr val="91723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0A11-E3C8-4CFB-94EA-1EF1A5D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05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배송 용량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A3835-4DC2-4909-AFA3-D1A516D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0 ≤ 현재 적재량 − 누적 배송량 ≤ 차량 용량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2B18F-F2F0-41D8-84CE-F1492A8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57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5E3E-56B6-4C08-B5BB-A9C8F477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1723A"/>
                </a:solidFill>
              </a:defRPr>
            </a:pPr>
            <a:r>
              <a:rPr sz="1650" b="1">
                <a:solidFill>
                  <a:srgbClr val="91723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FC358-FA77-4D87-BD79-0CC302B4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719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시간 제약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D0C90-FCAF-4A09-90AB-84A3747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909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고객 due time과 최대 운행시간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94920-BC98-4D3B-982D-764970C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67275"/>
            <a:ext cx="1057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29528-FFA9-440B-9C18-5BB59AAA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1723A"/>
                </a:solidFill>
              </a:defRPr>
            </a:pPr>
            <a:r>
              <a:rPr sz="1650" b="1">
                <a:solidFill>
                  <a:srgbClr val="91723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C18C6-B1C6-4899-B193-926540C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38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운영 고정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A5661-0A69-4F65-98A1-AEB0811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577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완료 고객·현재 주행 구간·종료 depot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F3D48-6163-491B-AD46-6584D221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08</a:t>
            </a:r>
          </a:p>
        </p:txBody>
      </p:sp>
    </p:spTree>
    <p:extLst>
      <p:ext uri="{BB962C8B-B14F-4D97-AF65-F5344CB8AC3E}">
        <p14:creationId xmlns:p14="http://schemas.microsoft.com/office/powerpoint/2010/main" val="21213870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82F3D-8453-434A-946E-A03697BA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0B90F-D654-431B-9B0E-2C5C465E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추천은 ‘가장 빠른 안’이 아니라 운영상 균형 잡힌 안이다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B2BD-AF7A-4B2C-9142-4DB6D60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58452-0EEF-46DF-88CD-99A3A957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10FFB-616C-4640-83F7-81EF93C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069F"/>
                </a:solidFill>
              </a:defRPr>
            </a:pPr>
            <a:r>
              <a:rPr sz="1725" b="1">
                <a:solidFill>
                  <a:srgbClr val="10069F"/>
                </a:solidFill>
              </a:rPr>
              <a:t>시간·서비스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A198A-7CD0-4ABC-BF2E-1F9298F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총지연 · 최대지연</a:t>
            </a:r>
          </a:p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정시율 · 지각 고객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A73A5-EC32-4F6B-95E5-6751923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2021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2C445-1B0F-4DAA-A07F-074E305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거리·비용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43DE2-2DE4-4F07-8CE2-FECB7E3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47925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총 이동거리</a:t>
            </a:r>
          </a:p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운영비 · 신규차량비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7E5AF-1773-4E5E-8BFD-022BEDF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E819A-51C1-490B-9E4A-714348B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1723A"/>
                </a:solidFill>
              </a:defRPr>
            </a:pPr>
            <a:r>
              <a:rPr sz="1725" b="1">
                <a:solidFill>
                  <a:srgbClr val="91723A"/>
                </a:solidFill>
              </a:rPr>
              <a:t>운영 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31A18-9CE6-4C8F-B57F-957AF994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47925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순서 변경 수</a:t>
            </a:r>
          </a:p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업무 재배정 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9956-082A-402D-89AB-CBA2F3EA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11430">
            <a:solidFill>
              <a:srgbClr val="2382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C92AD-09BA-4814-AEE8-FEFC88E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81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3825F"/>
                </a:solidFill>
              </a:defRPr>
            </a:pPr>
            <a:r>
              <a:rPr sz="1725" b="1">
                <a:solidFill>
                  <a:srgbClr val="23825F"/>
                </a:solidFill>
              </a:rPr>
              <a:t>실행 가능성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6A5AC-7CF5-424C-851A-FF1A01DC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47925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경로 · 용량</a:t>
            </a:r>
          </a:p>
          <a:p xmlns:a="http://schemas.openxmlformats.org/drawingml/2006/main">
            <a:pPr algn="ctr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시간 제약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9EAD9-3A50-4A83-AFEA-4E6E417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B06B3-7D5C-4994-948C-0AFD89D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Infeasible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7D120-3D26-4536-B425-8E031620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910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069F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CACB4-DBF2-49B8-A873-4565F54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Pareto frontier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8284A-3501-4205-9D96-9F8017E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509F0-A6DF-4D13-9F8E-08EADEA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723A"/>
                </a:solidFill>
              </a:defRPr>
            </a:pPr>
            <a:r>
              <a:rPr sz="1350" b="1">
                <a:solidFill>
                  <a:srgbClr val="91723A"/>
                </a:solidFill>
              </a:rPr>
              <a:t>ICER / 운영정책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045A3-19F2-4FE1-B8CD-19A2CB4E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910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1723A"/>
          </a:solidFill>
          <a:ln xmlns:a="http://schemas.openxmlformats.org/drawingml/2006/main" w="11430">
            <a:solidFill>
              <a:srgbClr val="9172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BD2FF-1870-4D6E-8675-B417900F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053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추천 + 근거</a:t>
            </a:r>
          </a:p>
        </p:txBody>
      </p: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762250" y="44958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76875" y="44958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382000" y="44958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069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51F36B-18D3-424C-B978-DA4E420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292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069F"/>
                </a:solidFill>
              </a:defRPr>
            </a:pPr>
            <a:r>
              <a:rPr sz="1500" b="1">
                <a:solidFill>
                  <a:srgbClr val="10069F"/>
                </a:solidFill>
              </a:rPr>
              <a:t>추천 결과에는 No-action 대비 지연·거리·비용·변경량을 함께 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6973B-0AAB-469D-9A40-5760AA9A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09</a:t>
            </a:r>
          </a:p>
        </p:txBody>
      </p:sp>
    </p:spTree>
    <p:extLst>
      <p:ext uri="{BB962C8B-B14F-4D97-AF65-F5344CB8AC3E}">
        <p14:creationId xmlns:p14="http://schemas.microsoft.com/office/powerpoint/2010/main" val="15781354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DF0C2-2CFA-4A50-87C0-2A3F92A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723A"/>
                </a:solidFill>
              </a:defRPr>
            </a:pPr>
            <a:r>
              <a:rPr sz="975" b="1">
                <a:solidFill>
                  <a:srgbClr val="91723A"/>
                </a:solidFill>
              </a:rPr>
              <a:t>RE-SCHEDULING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425B7-38CF-4B00-A703-76909133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</a:defRPr>
            </a:pPr>
            <a:r>
              <a:rPr sz="2700" b="1">
                <a:solidFill>
                  <a:srgbClr val="202124"/>
                </a:solidFill>
              </a:rPr>
              <a:t>해커톤에서는 설명 가능성과 단계적 완성을 함께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4A741-457F-4266-BC4D-25B9329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6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CA227-2F46-41AB-823D-5572DB73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069F"/>
                </a:solidFill>
              </a:defRPr>
            </a:pPr>
            <a:r>
              <a:rPr sz="1950" b="1">
                <a:solidFill>
                  <a:srgbClr val="10069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60185-BA7C-451A-90F5-DD58E8D1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8FA"/>
          </a:solidFill>
          <a:ln xmlns:a="http://schemas.openxmlformats.org/drawingml/2006/main" w="11430">
            <a:solidFill>
              <a:srgbClr val="1006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C4ADA-ACF5-4AD8-B041-1DF9BA3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43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Detour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BD8B-2CB8-440D-8625-CAA78D22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52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고객 순서 고정 + 상세 도로 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FE19B-264C-4DB2-B0A9-D0848D2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069F"/>
                </a:solidFill>
              </a:defRPr>
            </a:pPr>
            <a:r>
              <a:rPr sz="1275" b="1">
                <a:solidFill>
                  <a:srgbClr val="10069F"/>
                </a:solidFill>
              </a:rPr>
              <a:t>MVP 핵심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CDC82-0735-4A5A-BABE-477C604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1723A"/>
                </a:solidFill>
              </a:defRPr>
            </a:pPr>
            <a:r>
              <a:rPr sz="1950" b="1">
                <a:solidFill>
                  <a:srgbClr val="91723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4088C-24AF-4D36-AB09-0FA44B8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3AF02-5ABA-4E07-A612-97072C1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09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Re-route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C8AC0-8512-4009-96DC-8950A8AD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Swap · Relocate · 차량 간 Reinsert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B3FDD-F0EC-4D53-9886-6AADAFA6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1723A"/>
                </a:solidFill>
              </a:defRPr>
            </a:pPr>
            <a:r>
              <a:rPr sz="1275" b="1">
                <a:solidFill>
                  <a:srgbClr val="91723A"/>
                </a:solidFill>
              </a:rPr>
              <a:t>운영 최적화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0D9B-0B08-432B-A141-8196FCC1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1723A"/>
                </a:solidFill>
              </a:defRPr>
            </a:pPr>
            <a:r>
              <a:rPr sz="1950" b="1">
                <a:solidFill>
                  <a:srgbClr val="91723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88F15-7457-4C3E-84C1-CC54CEEB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05225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648CD-0A4B-4322-A825-3255FF8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76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New truck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7FD37-B3C9-4BFF-B974-740DC60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k=1…N 투입 대수와 업무 이전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E5337-A7E2-4D68-9C81-94461AE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1723A"/>
                </a:solidFill>
              </a:defRPr>
            </a:pPr>
            <a:r>
              <a:rPr sz="1275" b="1">
                <a:solidFill>
                  <a:srgbClr val="91723A"/>
                </a:solidFill>
              </a:rPr>
              <a:t>비용–지연 균형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E8A16-D490-47ED-B02E-30F91E23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1723A"/>
                </a:solidFill>
              </a:defRPr>
            </a:pPr>
            <a:r>
              <a:rPr sz="1950" b="1">
                <a:solidFill>
                  <a:srgbClr val="91723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F9C3C-56B3-41B3-8FBB-9CE9B596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72025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11430">
            <a:solidFill>
              <a:srgbClr val="CFCF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FC857-124F-4EBF-AFB1-6C503FF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43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Recommend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4AAB0-2BD7-4D54-BB7D-322F30C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Pareto + 정책 기반 추천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15A27-84CA-4432-9FE0-83C2FC5F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1723A"/>
                </a:solidFill>
              </a:defRPr>
            </a:pPr>
            <a:r>
              <a:rPr sz="1275" b="1">
                <a:solidFill>
                  <a:srgbClr val="91723A"/>
                </a:solidFill>
              </a:rPr>
              <a:t>의사결정 지원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F1079-B1D7-4E4A-BE0F-CE65E27D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069F"/>
                </a:solidFill>
              </a:defRPr>
            </a:pPr>
            <a:r>
              <a:rPr sz="1650" b="1">
                <a:solidFill>
                  <a:srgbClr val="10069F"/>
                </a:solidFill>
              </a:rPr>
              <a:t>최종 데모: 교통 변화 → 대안 3개 생성 → KPI 비교 → 추천 이유 설명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841BD-EC28-45E5-ACE8-F997CE2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MOVE AI · VCM   |   10</a:t>
            </a:r>
          </a:p>
        </p:txBody>
      </p:sp>
    </p:spTree>
    <p:extLst>
      <p:ext uri="{BB962C8B-B14F-4D97-AF65-F5344CB8AC3E}">
        <p14:creationId xmlns:p14="http://schemas.microsoft.com/office/powerpoint/2010/main" val="1941220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2026-08-13T04:52:07.3600000Z</dcterms:created>
  <dcterms:modified xsi:type="dcterms:W3CDTF">2026-08-13T04:52:07.3600000Z</dcterms:modified>
</coreProperties>
</file>